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e0d480d09f4028" /><Relationship Type="http://schemas.openxmlformats.org/officeDocument/2006/relationships/extended-properties" Target="/docProps/app.xml" Id="Rcf69dba2dea941bb" /><Relationship Type="http://schemas.openxmlformats.org/officeDocument/2006/relationships/officeDocument" Target="/ppt/presentation.xml" Id="Ra108f4bdcf7543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7bcf0ae524c08"/>
  </p:sldMasterIdLst>
  <p:notesMasterIdLst>
    <p:notesMasterId xmlns:r="http://schemas.openxmlformats.org/officeDocument/2006/relationships" r:id="Rc13b9b7e27564cd1"/>
  </p:notesMasterIdLst>
  <p:sldIdLst>
    <p:sldId xmlns:r="http://schemas.openxmlformats.org/officeDocument/2006/relationships" id="256" r:id="R812079f2a9854851"/>
    <p:sldId xmlns:r="http://schemas.openxmlformats.org/officeDocument/2006/relationships" id="257" r:id="Red2b299a116c4f5f"/>
    <p:sldId xmlns:r="http://schemas.openxmlformats.org/officeDocument/2006/relationships" id="258" r:id="Rd9f1975226404256"/>
    <p:sldId xmlns:r="http://schemas.openxmlformats.org/officeDocument/2006/relationships" id="259" r:id="R4546bcc499e74f78"/>
    <p:sldId xmlns:r="http://schemas.openxmlformats.org/officeDocument/2006/relationships" id="260" r:id="Rc0e973ab89ce4dd4"/>
    <p:sldId xmlns:r="http://schemas.openxmlformats.org/officeDocument/2006/relationships" id="261" r:id="R2a229e492ff74c10"/>
    <p:sldId xmlns:r="http://schemas.openxmlformats.org/officeDocument/2006/relationships" id="262" r:id="R8aadac930f364ad6"/>
    <p:sldId xmlns:r="http://schemas.openxmlformats.org/officeDocument/2006/relationships" id="263" r:id="R101f1221eedb4160"/>
    <p:sldId xmlns:r="http://schemas.openxmlformats.org/officeDocument/2006/relationships" id="264" r:id="R6f6178e35c9a4820"/>
    <p:sldId xmlns:r="http://schemas.openxmlformats.org/officeDocument/2006/relationships" id="265" r:id="R50c31bffbe234018"/>
    <p:sldId xmlns:r="http://schemas.openxmlformats.org/officeDocument/2006/relationships" id="266" r:id="Rf3860019047d486b"/>
    <p:sldId xmlns:r="http://schemas.openxmlformats.org/officeDocument/2006/relationships" id="267" r:id="Rd3ef902e2c1f4d35"/>
    <p:sldId xmlns:r="http://schemas.openxmlformats.org/officeDocument/2006/relationships" id="268" r:id="R2a138b756ced4104"/>
    <p:sldId xmlns:r="http://schemas.openxmlformats.org/officeDocument/2006/relationships" id="269" r:id="Rf3e7ce585e1d469c"/>
    <p:sldId xmlns:r="http://schemas.openxmlformats.org/officeDocument/2006/relationships" id="270" r:id="R8dbd2c7dcabc4f44"/>
    <p:sldId xmlns:r="http://schemas.openxmlformats.org/officeDocument/2006/relationships" id="271" r:id="Rf8b66c453e344e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7bcf0ae524c08" /><Relationship Type="http://schemas.openxmlformats.org/officeDocument/2006/relationships/theme" Target="/ppt/theme/theme1.xml" Id="Rf9bff5dccef049a7" /><Relationship Type="http://schemas.openxmlformats.org/officeDocument/2006/relationships/notesMaster" Target="/ppt/notesMasters/notesMaster1.xml" Id="Rc13b9b7e27564cd1" /><Relationship Type="http://schemas.openxmlformats.org/officeDocument/2006/relationships/presProps" Target="/ppt/presProps.xml" Id="R9449acd00a66422f" /><Relationship Type="http://schemas.openxmlformats.org/officeDocument/2006/relationships/viewProps" Target="/ppt/viewProps.xml" Id="R9ce4ab5fff4e4350" /><Relationship Type="http://schemas.openxmlformats.org/officeDocument/2006/relationships/tableStyles" Target="/ppt/tableStyles.xml" Id="R8b0b636a933a4d66" /><Relationship Type="http://schemas.openxmlformats.org/officeDocument/2006/relationships/slide" Target="/ppt/slides/slide1.xml" Id="R812079f2a9854851" /><Relationship Type="http://schemas.openxmlformats.org/officeDocument/2006/relationships/slide" Target="/ppt/slides/slide2.xml" Id="Red2b299a116c4f5f" /><Relationship Type="http://schemas.openxmlformats.org/officeDocument/2006/relationships/slide" Target="/ppt/slides/slide3.xml" Id="Rd9f1975226404256" /><Relationship Type="http://schemas.openxmlformats.org/officeDocument/2006/relationships/slide" Target="/ppt/slides/slide4.xml" Id="R4546bcc499e74f78" /><Relationship Type="http://schemas.openxmlformats.org/officeDocument/2006/relationships/slide" Target="/ppt/slides/slide5.xml" Id="Rc0e973ab89ce4dd4" /><Relationship Type="http://schemas.openxmlformats.org/officeDocument/2006/relationships/slide" Target="/ppt/slides/slide6.xml" Id="R2a229e492ff74c10" /><Relationship Type="http://schemas.openxmlformats.org/officeDocument/2006/relationships/slide" Target="/ppt/slides/slide7.xml" Id="R8aadac930f364ad6" /><Relationship Type="http://schemas.openxmlformats.org/officeDocument/2006/relationships/slide" Target="/ppt/slides/slide8.xml" Id="R101f1221eedb4160" /><Relationship Type="http://schemas.openxmlformats.org/officeDocument/2006/relationships/slide" Target="/ppt/slides/slide9.xml" Id="R6f6178e35c9a4820" /><Relationship Type="http://schemas.openxmlformats.org/officeDocument/2006/relationships/slide" Target="/ppt/slides/slide10.xml" Id="R50c31bffbe234018" /><Relationship Type="http://schemas.openxmlformats.org/officeDocument/2006/relationships/slide" Target="/ppt/slides/slide11.xml" Id="Rf3860019047d486b" /><Relationship Type="http://schemas.openxmlformats.org/officeDocument/2006/relationships/slide" Target="/ppt/slides/slide12.xml" Id="Rd3ef902e2c1f4d35" /><Relationship Type="http://schemas.openxmlformats.org/officeDocument/2006/relationships/slide" Target="/ppt/slides/slide13.xml" Id="R2a138b756ced4104" /><Relationship Type="http://schemas.openxmlformats.org/officeDocument/2006/relationships/slide" Target="/ppt/slides/slide14.xml" Id="Rf3e7ce585e1d469c" /><Relationship Type="http://schemas.openxmlformats.org/officeDocument/2006/relationships/slide" Target="/ppt/slides/slide15.xml" Id="R8dbd2c7dcabc4f44" /><Relationship Type="http://schemas.openxmlformats.org/officeDocument/2006/relationships/slide" Target="/ppt/slides/slide16.xml" Id="Rf8b66c453e344e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5b381f29cd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c6e9a7f4a641a6" /><Relationship Type="http://schemas.openxmlformats.org/officeDocument/2006/relationships/notesMaster" Target="/ppt/notesMasters/notesMaster1.xml" Id="Rc917629a6ee1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ada59e7dc4662" /><Relationship Type="http://schemas.openxmlformats.org/officeDocument/2006/relationships/notesMaster" Target="/ppt/notesMasters/notesMaster1.xml" Id="Rd154be23a1294a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8c3e362fa34bfc" /><Relationship Type="http://schemas.openxmlformats.org/officeDocument/2006/relationships/notesMaster" Target="/ppt/notesMasters/notesMaster1.xml" Id="R6bd080046b5b49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31de4d1af4a16" /><Relationship Type="http://schemas.openxmlformats.org/officeDocument/2006/relationships/notesMaster" Target="/ppt/notesMasters/notesMaster1.xml" Id="Re4bd7ba9f60a40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b1d07563bf48aa" /><Relationship Type="http://schemas.openxmlformats.org/officeDocument/2006/relationships/notesMaster" Target="/ppt/notesMasters/notesMaster1.xml" Id="R794baeddd1ff42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4c360192f44188" /><Relationship Type="http://schemas.openxmlformats.org/officeDocument/2006/relationships/notesMaster" Target="/ppt/notesMasters/notesMaster1.xml" Id="R80804f0722184b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8309f5715d4c1c" /><Relationship Type="http://schemas.openxmlformats.org/officeDocument/2006/relationships/notesMaster" Target="/ppt/notesMasters/notesMaster1.xml" Id="R67c7d8b07edc4b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55354aff44fac" /><Relationship Type="http://schemas.openxmlformats.org/officeDocument/2006/relationships/notesMaster" Target="/ppt/notesMasters/notesMaster1.xml" Id="R490780c2da4a40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fe593b25674f80" /><Relationship Type="http://schemas.openxmlformats.org/officeDocument/2006/relationships/notesMaster" Target="/ppt/notesMasters/notesMaster1.xml" Id="R8de43df1095d47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977c6b65ce47f3" /><Relationship Type="http://schemas.openxmlformats.org/officeDocument/2006/relationships/notesMaster" Target="/ppt/notesMasters/notesMaster1.xml" Id="R2006840e49da4f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d52b85a9b4ae4" /><Relationship Type="http://schemas.openxmlformats.org/officeDocument/2006/relationships/notesMaster" Target="/ppt/notesMasters/notesMaster1.xml" Id="R5a5839ed7b2b4c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48e0f9f3e14f80" /><Relationship Type="http://schemas.openxmlformats.org/officeDocument/2006/relationships/notesMaster" Target="/ppt/notesMasters/notesMaster1.xml" Id="R4c795911f2854e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4b3c68c13a44ce" /><Relationship Type="http://schemas.openxmlformats.org/officeDocument/2006/relationships/notesMaster" Target="/ppt/notesMasters/notesMaster1.xml" Id="R915bd0ae3a7641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983ff7e4cd4eaf" /><Relationship Type="http://schemas.openxmlformats.org/officeDocument/2006/relationships/notesMaster" Target="/ppt/notesMasters/notesMaster1.xml" Id="R34a4d5062d8948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79740fb09a4d50" /><Relationship Type="http://schemas.openxmlformats.org/officeDocument/2006/relationships/notesMaster" Target="/ppt/notesMasters/notesMaster1.xml" Id="Reb263486a75047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07c0116adc4d07" /><Relationship Type="http://schemas.openxmlformats.org/officeDocument/2006/relationships/notesMaster" Target="/ppt/notesMasters/notesMaster1.xml" Id="R1a6f9e90c9d2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b374952694b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f408cd2d564656" /><Relationship Type="http://schemas.openxmlformats.org/officeDocument/2006/relationships/slideLayout" Target="/ppt/slideLayouts/slideLayout2.xml" Id="Rba876df234724f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76df234724f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2abf9e3dad4fbd" /><Relationship Type="http://schemas.openxmlformats.org/officeDocument/2006/relationships/image" Target="/ppt/media/image.jpeg" Id="R792215e3269e43f9" /><Relationship Type="http://schemas.openxmlformats.org/officeDocument/2006/relationships/notesSlide" Target="/ppt/notesSlides/notesSlide1.xml" Id="Rd4d057a7b6eb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09f1046284929" /><Relationship Type="http://schemas.openxmlformats.org/officeDocument/2006/relationships/notesSlide" Target="/ppt/notesSlides/notesSlide2.xml" Id="R559e1863bf6b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de93336ad440d8" /><Relationship Type="http://schemas.openxmlformats.org/officeDocument/2006/relationships/notesSlide" Target="/ppt/notesSlides/notesSlide3.xml" Id="R3d262d63f25f41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fd62af4094e07" /><Relationship Type="http://schemas.openxmlformats.org/officeDocument/2006/relationships/notesSlide" Target="/ppt/notesSlides/notesSlide4.xml" Id="R01e9cd9a548a46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94074e33a490e" /><Relationship Type="http://schemas.openxmlformats.org/officeDocument/2006/relationships/notesSlide" Target="/ppt/notesSlides/notesSlide5.xml" Id="R1938511ea49843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ce4ad8fbf74675" /><Relationship Type="http://schemas.openxmlformats.org/officeDocument/2006/relationships/notesSlide" Target="/ppt/notesSlides/notesSlide6.xml" Id="Red466a55f1c54d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2a5639d4534e94" /><Relationship Type="http://schemas.openxmlformats.org/officeDocument/2006/relationships/notesSlide" Target="/ppt/notesSlides/notesSlide7.xml" Id="R391af26da44748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6908d756b64c36" /><Relationship Type="http://schemas.openxmlformats.org/officeDocument/2006/relationships/image" Target="/ppt/media/image2.jpeg" Id="Ra00e1297ae5645bf" /><Relationship Type="http://schemas.openxmlformats.org/officeDocument/2006/relationships/notesSlide" Target="/ppt/notesSlides/notesSlide8.xml" Id="R05af4d2ac23244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73ddafa88445a4" /><Relationship Type="http://schemas.openxmlformats.org/officeDocument/2006/relationships/notesSlide" Target="/ppt/notesSlides/notesSlide9.xml" Id="R5abfd0a8731d48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e8095996ef4e48" /><Relationship Type="http://schemas.openxmlformats.org/officeDocument/2006/relationships/notesSlide" Target="/ppt/notesSlides/notesSlide10.xml" Id="R2470c0bfa09d4a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168168a41c46fa" /><Relationship Type="http://schemas.openxmlformats.org/officeDocument/2006/relationships/notesSlide" Target="/ppt/notesSlides/notesSlide11.xml" Id="Rc92121de3b1e49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893edef7f041e8" /><Relationship Type="http://schemas.openxmlformats.org/officeDocument/2006/relationships/notesSlide" Target="/ppt/notesSlides/notesSlide12.xml" Id="Ra2b4e05bc9fd42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875383be340dc" /><Relationship Type="http://schemas.openxmlformats.org/officeDocument/2006/relationships/notesSlide" Target="/ppt/notesSlides/notesSlide13.xml" Id="R8ca11cc770ae4b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078af5a35434c" /><Relationship Type="http://schemas.openxmlformats.org/officeDocument/2006/relationships/image" Target="/ppt/media/image3.jpeg" Id="Ra9848e4c76a34130" /><Relationship Type="http://schemas.openxmlformats.org/officeDocument/2006/relationships/notesSlide" Target="/ppt/notesSlides/notesSlide14.xml" Id="R1f862a1efb0b4b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d4b5b3baf46fb" /><Relationship Type="http://schemas.openxmlformats.org/officeDocument/2006/relationships/notesSlide" Target="/ppt/notesSlides/notesSlide15.xml" Id="R6d139411aba24c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db23bf9b74736" /><Relationship Type="http://schemas.openxmlformats.org/officeDocument/2006/relationships/notesSlide" Target="/ppt/notesSlides/notesSlide16.xml" Id="Rf15883f52ec748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8CCA9-82AD-42F4-AC57-55B18840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7616E-FAF0-4442-9D11-5A6F1386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">
            <a:extLst xmlns:a="http://schemas.openxmlformats.org/drawingml/2006/main">
              <a:ext uri="{FF2B5EF4-FFF2-40B4-BE49-F238E27FC236}">
                <a16:creationId xmlns:a16="http://schemas.microsoft.com/office/drawing/2014/main" id="{D2400603-D0A8-4EE7-93C4-5AE1DB3A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">
            <a:extLst xmlns:a="http://schemas.openxmlformats.org/drawingml/2006/main">
              <a:ext uri="{FF2B5EF4-FFF2-40B4-BE49-F238E27FC236}">
                <a16:creationId xmlns:a16="http://schemas.microsoft.com/office/drawing/2014/main" id="{5F195166-A6F4-447D-A1C3-619B50E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PORTADA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6C7B4-9BF7-46FE-B199-7D76937C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EF47C-DD90-4FB1-8320-A31C6867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C826C-1690-474D-B42E-7590F79D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Claudio Quiz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306BB-43B9-4920-8DE4-CE8B5786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476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Analisis semantico explicado y demostrado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58571-34D5-4846-BE6B-B7690FC2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5286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Teoria de compiladores, reglas formales, implementacion real, OpenAI y demo en produccion.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D53A3-1C0B-4A8C-BF30-5B073EEA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6680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CBA6F7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215e3269e43f9"/>
          <a:stretch xmlns:a="http://schemas.openxmlformats.org/drawingml/2006/main"/>
        </p:blipFill>
        <p:spPr>
          <a:xfrm xmlns:a="http://schemas.openxmlformats.org/drawingml/2006/main">
            <a:off x="6400800" y="1504355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D7DB-AF05-4783-B700-018C2B7C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41663-1BFF-4F4E-9AF9-9FE300CE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conceptos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8C592-FB2A-4C42-BB7C-96ECB845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292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base teorica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2CBE2-2FC0-4BB0-9D0C-4138D36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91125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32CDE-BC6F-4217-90D5-1C81D401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054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SEM-1..SEM-7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E510C-10C4-406B-B821-FA5D1CFA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292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quiz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9C0BA-E79D-47D3-B12A-30401A66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91125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1E2A7-B7D5-4B77-A281-110FB6E4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054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backend +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1B59A-24D5-4368-AB8D-0F7873C1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292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codigo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1CF1E-316E-449F-9706-33DB0BB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91125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812EE-67A9-4899-AF77-FD26BE72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054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64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5D72B-F675-40E6-B199-5BF8D5C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292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0018911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6E7346-597C-4E8C-982C-7570FC83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E074D-F991-4BBD-9D55-8AD650D1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2">
            <a:extLst xmlns:a="http://schemas.openxmlformats.org/drawingml/2006/main">
              <a:ext uri="{FF2B5EF4-FFF2-40B4-BE49-F238E27FC236}">
                <a16:creationId xmlns:a16="http://schemas.microsoft.com/office/drawing/2014/main" id="{AD84A18F-A98E-437D-9C19-76C0D9C3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2">
            <a:extLst xmlns:a="http://schemas.openxmlformats.org/drawingml/2006/main">
              <a:ext uri="{FF2B5EF4-FFF2-40B4-BE49-F238E27FC236}">
                <a16:creationId xmlns:a16="http://schemas.microsoft.com/office/drawing/2014/main" id="{BB912170-6FF9-4F56-BFAF-B709133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82703-7EBC-4B18-9750-37D18324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5CCFE-2E51-4881-852E-919914A9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8C7B4-0CEA-42A4-AAB2-0D0D7DDF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Ruta del Quiz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01683-EEC5-4C94-9086-CE0599D5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38DF9-7F05-475B-BC88-D71E5E58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A14ED-0B6D-4A44-AEF7-3D916D6D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FAD81-2E6B-4092-9F1B-2C46C63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que es Claudio y donde entra el Quiz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897A9-D930-4AF2-A306-74E793C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19375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D2AC4-1680-446B-A59F-A4F74DB7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146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E8D0F-7F5A-46CF-9EBD-E3E48E5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99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Conceptos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874C2-5995-4060-AB10-3A425413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semantica, atributos, tabla y tipos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D340A-8492-4D7F-9B98-8397944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7F7E8-7B58-43CD-A6C2-802248A6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B63C6-F7FA-4EB4-9BE2-454D2466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Reglas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440D5-9665-48FD-AE9A-B602C797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SEM-1 a SEM-7 con dominio y accion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7A6DF-5207-49D8-A5C9-FE9E9308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19375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9E2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24F21-4E42-4ABD-8ACF-2EE0040F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146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90C11-E936-4743-8E31-709ABF1B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99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11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Implementacion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3D4D1-72FD-4599-9BD6-62045687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576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backend, UI, OpenAI, pruebas y demo</a:t>
            </a:r>
          </a:p>
        </p:txBody>
      </p:sp>
    </p:spTree>
    <p:extLst>
      <p:ext uri="{BB962C8B-B14F-4D97-AF65-F5344CB8AC3E}">
        <p14:creationId xmlns:p14="http://schemas.microsoft.com/office/powerpoint/2010/main" val="613211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D1F55-3A8E-4CCF-94E2-A2D31FF4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AFCDF-7E06-4D8E-B872-D1BE2F19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3">
            <a:extLst xmlns:a="http://schemas.openxmlformats.org/drawingml/2006/main">
              <a:ext uri="{FF2B5EF4-FFF2-40B4-BE49-F238E27FC236}">
                <a16:creationId xmlns:a16="http://schemas.microsoft.com/office/drawing/2014/main" id="{95BB2B95-7614-404A-8939-42681B10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3">
            <a:extLst xmlns:a="http://schemas.openxmlformats.org/drawingml/2006/main">
              <a:ext uri="{FF2B5EF4-FFF2-40B4-BE49-F238E27FC236}">
                <a16:creationId xmlns:a16="http://schemas.microsoft.com/office/drawing/2014/main" id="{2B08A7B4-B506-48C2-BFF7-5C70459F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CONTEXTO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F0C6-8B1F-4F71-88D5-3BD7483E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ADEED-2967-4777-9C2F-7C17159B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51C79-8495-46EC-929B-80D88D3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Que es Claudio y que agrega el Quiz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9FCA8-F317-4037-9AC9-B8EC2EA5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Claudio es un compilador fuente-a-fuente: codigo en espanol hacia Swift. El Quiz 4 agrega la fase semantica.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A0433-2F67-453F-852B-FEB4AC04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90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9A0A1-BD4A-43C0-A2C6-204298AD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x = 10</a:t>
            </a:r>
          </a:p>
          <a:p xmlns:a="http://schemas.openxmlformats.org/drawingml/2006/main">
            <a:pPr algn="l">
              <a:def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sea cadena msg = "hola"</a:t>
            </a:r>
          </a:p>
          <a:p xmlns:a="http://schemas.openxmlformats.org/drawingml/2006/main">
            <a:pPr algn="l">
              <a:def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si x &gt; 5 entonces</a:t>
            </a:r>
          </a:p>
          <a:p xmlns:a="http://schemas.openxmlformats.org/drawingml/2006/main">
            <a:pPr algn="l">
              <a:def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    imprimir(msg)</a:t>
            </a:r>
          </a:p>
          <a:p xmlns:a="http://schemas.openxmlformats.org/drawingml/2006/main">
            <a:pPr algn="l">
              <a:def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fin_si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D0A50-34FC-456A-931B-38EA3880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4320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EAE19-F458-4CDA-8062-FE58825E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09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Rasgos del lenguaje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53D00-FBF7-40EA-AC50-721AFD6A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Tipos: entero, real, cadena, booleano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Declaracion mutable: `var`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Constante: `sea`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Salida esperada: Swift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087FA-2D56-4E54-A3FD-EB16C076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8096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B60F8-8F6B-4FF1-972C-8E755EB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9D198-CEBE-4E44-AD74-ED8F0EE7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Lexico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E4E9A-F457-4081-8021-6EE237B9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14BCD-37C8-4084-ADA8-5C940581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C4F88-31B6-4BAD-A241-3AF8A632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863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Sintactico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6A758-C573-4639-8270-6B6FCE9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007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F9737-E8B4-4C48-AA6A-7F20C8D5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371D7-9001-441C-8B04-BF20262C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863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Semantico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CDA2-9CCA-4424-AFA1-9B70191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007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significado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DFEC6-CB39-44EE-9A56-15BD956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435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D6CC3-93F2-4E45-9F15-313F8871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863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Swift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0DFE0-FE00-404E-B67E-303F6A78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007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traduccion</a:t>
            </a:r>
          </a:p>
        </p:txBody>
      </p:sp>
    </p:spTree>
    <p:extLst>
      <p:ext uri="{BB962C8B-B14F-4D97-AF65-F5344CB8AC3E}">
        <p14:creationId xmlns:p14="http://schemas.microsoft.com/office/powerpoint/2010/main" val="5017592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1C12D-E220-44E4-AE83-407C051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E1415-3F4D-4602-A4FD-4BB1E0DD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4">
            <a:extLst xmlns:a="http://schemas.openxmlformats.org/drawingml/2006/main">
              <a:ext uri="{FF2B5EF4-FFF2-40B4-BE49-F238E27FC236}">
                <a16:creationId xmlns:a16="http://schemas.microsoft.com/office/drawing/2014/main" id="{A8E8A177-A596-428C-8C83-9930CF1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4">
            <a:extLst xmlns:a="http://schemas.openxmlformats.org/drawingml/2006/main">
              <a:ext uri="{FF2B5EF4-FFF2-40B4-BE49-F238E27FC236}">
                <a16:creationId xmlns:a16="http://schemas.microsoft.com/office/drawing/2014/main" id="{991AB74F-8F46-4674-9C7E-E4FB3754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CONCEPTO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2F8CE-BC49-4B2C-A903-7F7A241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EA02E-F84D-4A88-8BDF-BA4ABE6E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4D4D2-243E-4ED7-806E-70ECBD49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17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Sintaxis valida forma; semantica valida significado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B4B87-74EC-4B83-93D6-4E096AB2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Un programa puede pasar la gramatica y aun asi ser incorrecto para el lenguaje.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5BCC7-0B49-400F-873A-3935B721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7A006-9885-499E-9417-FD3669D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Analisis sintactico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A3C55-BD78-4AF5-92F7-16AA385F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Valida forma: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- orden de tokens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- producciones de la gramatica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- estructura del AST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Ejemplo: `ID = expresion` tiene forma de asignacion.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EC58D-BD33-4B99-B3F1-B6558FCB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D1ADF-8288-4396-8B8C-F96BE561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Analisis semantico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B9D9B-CE97-4683-BAB0-C3CEB06C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Valida significado: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- identificadores declarados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- tipos compatibles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- constantes no reasignadas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- condiciones booleanas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Ejemplo: `x = "texto"` falla si `x` es entero.</a:t>
            </a:r>
          </a:p>
        </p:txBody>
      </p:sp>
    </p:spTree>
    <p:extLst>
      <p:ext uri="{BB962C8B-B14F-4D97-AF65-F5344CB8AC3E}">
        <p14:creationId xmlns:p14="http://schemas.microsoft.com/office/powerpoint/2010/main" val="12932505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CC7B1-F3D1-47C9-8E11-538B5CF3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DC5A9-BE01-49C9-AC7C-373EFF0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5">
            <a:extLst xmlns:a="http://schemas.openxmlformats.org/drawingml/2006/main">
              <a:ext uri="{FF2B5EF4-FFF2-40B4-BE49-F238E27FC236}">
                <a16:creationId xmlns:a16="http://schemas.microsoft.com/office/drawing/2014/main" id="{5933760E-1D64-4292-ACB2-EC6B776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5">
            <a:extLst xmlns:a="http://schemas.openxmlformats.org/drawingml/2006/main">
              <a:ext uri="{FF2B5EF4-FFF2-40B4-BE49-F238E27FC236}">
                <a16:creationId xmlns:a16="http://schemas.microsoft.com/office/drawing/2014/main" id="{12874E6E-BF74-4599-B012-9A53EFBD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CONCEPTO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35373-5C39-4C0F-907D-FFCCA289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1CA04-0C8F-4C23-8BDA-42F521E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A3F62-5F20-4836-8840-A4606EA8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86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Atributos semanticos: informacion que viaja por el 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A40D7-F789-4583-8523-D1E57493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0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El quiz no solo pide detectar errores: pide expresar reglas con atributos, dominios y acciones.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B6E0B-B8F9-4E98-96B7-A522940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260BE-8B42-4EC7-A324-948B2343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Sintetizado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D0957-270F-4CFE-87FC-5E727F31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Se calcula desde el nodo o sus hijos.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Ejemplo: expresion.tipo.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BDCEE-6FAD-4AE0-8E78-6C2B5355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575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E1B7B-A572-43D6-9F0E-3B0E8EDF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051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Heredado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FA7A9-F415-4E1F-A892-8A5E620B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623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Llega desde el contexto.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Ejemplo: ambitoActual.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D05CC-409C-41DA-A51A-2BA111C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9E2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215BC-307E-4B7B-B1EB-029E8DC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Dominio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8A8B4-E020-4233-84FE-5C09A66E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Restriccion que debe cumplirse.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Ejemplo: cond.tipo == booleano.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5FF7D-220B-4103-B091-0952F4D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575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AE473-1DCB-4CEF-BE4E-3BF1EE4F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051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Accion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E2C31-9703-40F6-8F9A-2D55F5BF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623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Que hace el compilador.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Ejemplo: reportar SEM-4.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C675B-B93A-464D-8DD1-EA80B062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E0923-CBBF-45F7-A301-2C252BB2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95900"/>
            <a:ext cx="822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127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&lt;decl_variable&gt; -&gt; (var | sea) &lt;tipo&gt; ID = &lt;expresion&gt;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Atributos: decl.tipo, expr.tipo, ambitoActual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Dominio: tipos compatibles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Accion: si falla, reportar SEM-4 y continuar</a:t>
            </a:r>
          </a:p>
        </p:txBody>
      </p:sp>
    </p:spTree>
    <p:extLst>
      <p:ext uri="{BB962C8B-B14F-4D97-AF65-F5344CB8AC3E}">
        <p14:creationId xmlns:p14="http://schemas.microsoft.com/office/powerpoint/2010/main" val="2681688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DBCAA-5BC2-4570-B3D9-8CD0034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A0DF1-690F-47E3-97C1-8053CF1E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6">
            <a:extLst xmlns:a="http://schemas.openxmlformats.org/drawingml/2006/main">
              <a:ext uri="{FF2B5EF4-FFF2-40B4-BE49-F238E27FC236}">
                <a16:creationId xmlns:a16="http://schemas.microsoft.com/office/drawing/2014/main" id="{635EA9E1-A372-49A2-AA49-444E64F9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6">
            <a:extLst xmlns:a="http://schemas.openxmlformats.org/drawingml/2006/main">
              <a:ext uri="{FF2B5EF4-FFF2-40B4-BE49-F238E27FC236}">
                <a16:creationId xmlns:a16="http://schemas.microsoft.com/office/drawing/2014/main" id="{4930E20D-8FBF-485C-8DEC-0FE8FF7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CONCEPTO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EBA4E-4025-453B-8017-9921209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A8B0A-A9F4-475C-B59B-C331D11B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F383A-2352-455E-A7D4-229AF3B5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Tabla de simbolos y ambitos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658D2-5D37-4941-B834-220069E9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Es la memoria del programa: permite saber que nombres existen, su tipo, si son constantes y en que ambito viven.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49B09-E7FF-4BE2-95E1-4D304EE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BBE3C-FE1D-4BB2-9847-676A5A77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nombre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86D63-8514-4BDC-877A-0A8268CD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5BA95-03FF-4B7F-B4A8-32EF5037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90825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tipo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ECF42-348A-433D-951A-A9ADCFE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A15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B86F5-EB1A-4695-A6F2-8F9C742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90825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inmutable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3764C-D203-497A-94DA-039EA609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40E59-969A-46AD-92C4-8BA7DF44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inicializado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021A5-710E-4FC1-8B3B-B0D3FC6D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385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8B0A1-4F8F-45A3-831A-13758F4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05175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ambito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911CE-C824-460B-9370-3E7B21EE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2B526-DBA6-4BC9-A0CE-1C33144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fila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D3D35-099C-41AB-BB78-5CA17AD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BA460-3A80-4366-A2CC-8939C3A4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columna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7EDB8-17B2-4C7D-BD22-E8FB97A1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F6D31-DB37-46C0-AAED-67359BB5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Busqueda por ambitos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3C4A0-E9AB-4DCD-ACF3-CAC7DB4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Cuando aparece un ID, se busca desde el ambito mas interno hacia global. Eso permite sombreado y evita falsos positivos.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8E91A-D440-4D84-BF9C-6CD6FA7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0957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9C27E-72E6-4C94-B7AA-3D70D025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9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Uso en las reglas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A0F154-BD2E-4127-969B-7CC3F162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57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SEM-1: ya existe en este ambito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SEM-2: no aparece en ningun ambito activo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SEM-3: entrada.inmutable == true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SEM-4/5: comparar tipo declarado vs tipo inferido</a:t>
            </a:r>
          </a:p>
        </p:txBody>
      </p:sp>
    </p:spTree>
    <p:extLst>
      <p:ext uri="{BB962C8B-B14F-4D97-AF65-F5344CB8AC3E}">
        <p14:creationId xmlns:p14="http://schemas.microsoft.com/office/powerpoint/2010/main" val="8673492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695C01-8BD4-4F7B-B1B2-D69DAAC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83FFA-B7BE-4B11-8415-FEE2207C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7">
            <a:extLst xmlns:a="http://schemas.openxmlformats.org/drawingml/2006/main">
              <a:ext uri="{FF2B5EF4-FFF2-40B4-BE49-F238E27FC236}">
                <a16:creationId xmlns:a16="http://schemas.microsoft.com/office/drawing/2014/main" id="{8B41946C-C78D-4E16-BA7D-5F3E1E92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7">
            <a:extLst xmlns:a="http://schemas.openxmlformats.org/drawingml/2006/main">
              <a:ext uri="{FF2B5EF4-FFF2-40B4-BE49-F238E27FC236}">
                <a16:creationId xmlns:a16="http://schemas.microsoft.com/office/drawing/2014/main" id="{E1489A77-A0DF-4B9A-B372-7A91F03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CONCEPTO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8E2D5-58C4-4AA2-ADEC-9F07D278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7F7D8-19FB-4EB3-8A24-2AD5F56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EE72F-52BD-4ED0-A589-446F78B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Tipos, compatibilidad y dominios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3C507-C293-4FC0-A424-0E93F290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Las reglas semanticas convierten expresiones en tipos y comparan esos tipos con restricciones del lenguaje.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D1BEE-941B-469D-928C-36E6A956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333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87F4D-62B8-4FC2-BBE6-64D67059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9909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x = "hola"   → SEM-4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x = "texto"             → SEM-5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si x entonces           → SEM-6</a:t>
            </a:r>
          </a:p>
          <a:p xmlns:a="http://schemas.openxmlformats.org/drawingml/2006/main">
            <a:pPr algn="l">
              <a:def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para i desde "a" ...    → SEM-7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150EC-B8D3-48A8-974E-FE38F3D7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905F5-5728-4AD0-A626-38BD97CC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Compatibilidad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89714-15B6-4ED6-873E-164805E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1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Regla base: los tipos deben coincidir.</a:t>
            </a:r>
          </a:p>
          <a:p xmlns:a="http://schemas.openxmlformats.org/drawingml/2006/main">
            <a:pPr algn="l">
              <a:defRPr sz="15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Excepcion aceptada: `entero` puede asignarse a `real` porque es widening.</a:t>
            </a:r>
          </a:p>
        </p:txBody>
      </p:sp>
    </p:spTree>
    <p:extLst>
      <p:ext uri="{BB962C8B-B14F-4D97-AF65-F5344CB8AC3E}">
        <p14:creationId xmlns:p14="http://schemas.microsoft.com/office/powerpoint/2010/main" val="12106997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836E38-25A7-451E-A595-8296E6DC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20FA9-C320-43CD-A427-028BB91E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8">
            <a:extLst xmlns:a="http://schemas.openxmlformats.org/drawingml/2006/main">
              <a:ext uri="{FF2B5EF4-FFF2-40B4-BE49-F238E27FC236}">
                <a16:creationId xmlns:a16="http://schemas.microsoft.com/office/drawing/2014/main" id="{D10BF085-2384-46E2-90DA-C57BFDC5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8">
            <a:extLst xmlns:a="http://schemas.openxmlformats.org/drawingml/2006/main">
              <a:ext uri="{FF2B5EF4-FFF2-40B4-BE49-F238E27FC236}">
                <a16:creationId xmlns:a16="http://schemas.microsoft.com/office/drawing/2014/main" id="{70210247-B7C1-43D0-B10C-997B41D8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CONCEPTO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50F33-EA27-4D70-A86C-4F74C93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76215-2958-4B18-9945-550C96FA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150C0-7C0E-43B3-8C62-71ED2A3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14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Recuperacion semantica: acumular errores utiles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F090A-0A71-4FCF-9A6A-F251611E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El analizador debe seguir despues de un error para entregar una lista completa de diagnosticos.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F5B19-C6DE-49E6-85BA-4840A7C4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5524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F38BA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e1297ae5645bf"/>
          <a:stretch xmlns:a="http://schemas.openxmlformats.org/drawingml/2006/main"/>
        </p:blipFill>
        <p:spPr>
          <a:xfrm xmlns:a="http://schemas.openxmlformats.org/drawingml/2006/main">
            <a:off x="5619750" y="1890713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8C50E-7A12-4290-B1FD-0460C682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3714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80542-51A8-4B41-923E-D196DA17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371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x = "hola"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x = 2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x = "texto"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sea entero c = 1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c = 2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imprimir(fantasma)</a:t>
            </a:r>
          </a:p>
          <a:p xmlns:a="http://schemas.openxmlformats.org/drawingml/2006/main">
            <a:pPr algn="l">
              <a:def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si x entonces 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D6499-1E38-4E24-8C2A-EEA30E13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7107D-47B1-4440-979C-92FC9D85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continua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D1E9C-D3A9-4CCF-BDBD-8E66A18F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sin detenerse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87378-DA61-465B-B32A-F1F14959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530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773F3-4E0A-4EE2-A454-11E9D4AB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673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8B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8BA8"/>
                </a:solidFill>
                <a:latin typeface="Aptos"/>
                <a:ea typeface="Aptos"/>
                <a:cs typeface="Aptos"/>
              </a:rPr>
              <a:t>SEM-1..SEM-7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E0C88-2A9C-4FBE-AF90-B17401C1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912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diagnosticos</a:t>
            </a:r>
          </a:p>
        </p:txBody>
      </p:sp>
    </p:spTree>
    <p:extLst>
      <p:ext uri="{BB962C8B-B14F-4D97-AF65-F5344CB8AC3E}">
        <p14:creationId xmlns:p14="http://schemas.microsoft.com/office/powerpoint/2010/main" val="20800191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70580-A57E-41E6-81BE-0EC45893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C5836-85C2-4788-8E80-B20E094B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9">
            <a:extLst xmlns:a="http://schemas.openxmlformats.org/drawingml/2006/main">
              <a:ext uri="{FF2B5EF4-FFF2-40B4-BE49-F238E27FC236}">
                <a16:creationId xmlns:a16="http://schemas.microsoft.com/office/drawing/2014/main" id="{20DCCA14-699E-4F7C-A3C1-DEFB47C8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9">
            <a:extLst xmlns:a="http://schemas.openxmlformats.org/drawingml/2006/main">
              <a:ext uri="{FF2B5EF4-FFF2-40B4-BE49-F238E27FC236}">
                <a16:creationId xmlns:a16="http://schemas.microsoft.com/office/drawing/2014/main" id="{C61C86BD-2FC4-4D9F-ADD3-45AA104F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REGLAS DEL 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ABD85-C933-463F-B221-955B62C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F5D98-8FF6-49ED-9E5E-F916D08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4DB41-F682-4034-B0F8-F798042E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Mapa completo de reglas semanticas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F783B-4DDC-40EA-BDD5-EDB49467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9109B-A164-41CB-B6A8-2FF1CDD5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SEM-1   Declaracion duplicada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5DE1A-F04B-4663-9BC2-68191E0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05025"/>
            <a:ext cx="400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mismo ambito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BA5ED-491A-4B84-AD70-4B5F913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A7701-8DE5-4163-B4C7-5273BE3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SEM-2   Identificador no declarado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D63F6-6AE7-4B39-9487-CE0B1E7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57475"/>
            <a:ext cx="400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busqueda falla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582FC-DFFB-4171-B837-49B0C40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C9CF9-9530-42FD-A49E-6370809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SEM-3   Constante reasignada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CBCB7-0318-4AC8-9971-BEF65961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9925"/>
            <a:ext cx="400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`sea` es inmutable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BEADD-992F-4395-A6F5-DAACE2ED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3337E-E08E-4F3D-BC2A-C036E75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SEM-4   Tipo incompatible en declaracion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1379B-E0A9-4FDE-8C22-D69F8F2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62375"/>
            <a:ext cx="400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decl.tipo vs expr.tipo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CD555-AD8D-4FC3-A64B-C2A5ED64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80AC2-661A-4824-9727-62F17A5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SEM-5   Tipo incompatible en asignacion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A5A0B-C996-4897-ABD3-40D7A857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14825"/>
            <a:ext cx="400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ID.tipo vs expr.tipo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81893-B91B-41DE-AC9F-4357FCF0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C9A56-4A42-4445-8AFF-01C6A4B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SEM-6   Condicion no booleana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4B878-CEAE-4446-9CCE-1789ADF9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67275"/>
            <a:ext cx="400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cond.tipo debe ser booleano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2A7A5-2946-48AC-8E48-3BA33DE4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E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FBB3F6-2667-4327-93E1-D77A2B3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SEM-7   Limites de `para` no numericos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D69A4-8F35-415D-A104-EDDE0555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19725"/>
            <a:ext cx="400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desde/hasta/paso numericos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A9BD52-3CFD-4DF3-A1E3-35371C9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3619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4346D-F7E7-4B53-81C2-5C21320B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Estructura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311612-3683-42A0-82D4-A943DDC7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Nodo gramatical</a:t>
            </a:r>
          </a:p>
          <a:p xmlns:a="http://schemas.openxmlformats.org/drawingml/2006/main">
            <a:pPr algn="l">
              <a:defRPr sz="15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Atributos usados</a:t>
            </a:r>
          </a:p>
          <a:p xmlns:a="http://schemas.openxmlformats.org/drawingml/2006/main">
            <a:pPr algn="l">
              <a:defRPr sz="15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Dominio validado</a:t>
            </a:r>
          </a:p>
          <a:p xmlns:a="http://schemas.openxmlformats.org/drawingml/2006/main">
            <a:pPr algn="l">
              <a:defRPr sz="15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Diagnostico emitido</a:t>
            </a:r>
          </a:p>
        </p:txBody>
      </p:sp>
    </p:spTree>
    <p:extLst>
      <p:ext uri="{BB962C8B-B14F-4D97-AF65-F5344CB8AC3E}">
        <p14:creationId xmlns:p14="http://schemas.microsoft.com/office/powerpoint/2010/main" val="11276326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E2BB0-7C57-449D-B998-DB37C66A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16E2A-2B9D-472E-AE06-AC34DEB3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0">
            <a:extLst xmlns:a="http://schemas.openxmlformats.org/drawingml/2006/main">
              <a:ext uri="{FF2B5EF4-FFF2-40B4-BE49-F238E27FC236}">
                <a16:creationId xmlns:a16="http://schemas.microsoft.com/office/drawing/2014/main" id="{C0D13775-F5A6-4B23-A481-D2267A22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0">
            <a:extLst xmlns:a="http://schemas.openxmlformats.org/drawingml/2006/main">
              <a:ext uri="{FF2B5EF4-FFF2-40B4-BE49-F238E27FC236}">
                <a16:creationId xmlns:a16="http://schemas.microsoft.com/office/drawing/2014/main" id="{1342A035-242E-4012-A6C5-A401B3F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REGLAS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47FD2-B716-491E-BB11-0F5CFDF8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E1152-B31B-43C8-892C-D1CAAFB8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261C4-9785-430E-8CDF-55CF89BD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765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SEM-1 a SEM-4: nombres, constantes y declaracion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2D605-908B-4B49-8E3A-9983FC33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38B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7DE50-E854-4E95-B39F-E08E0DA9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8B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8BA8"/>
                </a:solidFill>
                <a:latin typeface="Aptos"/>
                <a:ea typeface="Aptos"/>
                <a:cs typeface="Aptos"/>
              </a:rPr>
              <a:t>SEM-1 · duplicado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F7203-736B-403F-AF2E-24FA0144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C7170-436D-43CE-BC05-90A5658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x = 5</a:t>
            </a:r>
          </a:p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x =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DC406-4A72-4433-B6C0-35D0A73B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nombre no debe existir en el ambito actual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D8CCC-B271-4D2B-8E73-FB419391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4762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38B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ADFF0-37B4-485F-ABA4-1850039D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8B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8BA8"/>
                </a:solidFill>
                <a:latin typeface="Aptos"/>
                <a:ea typeface="Aptos"/>
                <a:cs typeface="Aptos"/>
              </a:rPr>
              <a:t>SEM-2 · no declarado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48F72-A002-46AC-BA3B-F1AC9EFC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0F752-C127-4156-BB63-B9398B9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imprimir(fantasma)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DB29D-746F-4ECE-9A06-33092A5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nombre debe existir en algun ambito activo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8600D-3B2C-49D5-892E-54C0511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4762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9E2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21612-8BB6-4579-8C58-8FA0D815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SEM-3 · constante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8302F-BE66-464D-996B-79E8C71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E2981-E247-48CD-B9D0-C0699B9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244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sea entero c = 1</a:t>
            </a:r>
          </a:p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c =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04BA8-E041-4425-B281-7756725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101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si fue `sea`, inmutable debe ser falso para reasignar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8ADB2-3F6C-47C1-ACF8-5C86F56B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43375"/>
            <a:ext cx="4762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E22F54-3732-43DD-9DF9-0EAF059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529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SEM-4 · tipo en declaracion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F3794-02F4-4CA5-A8A8-30F9C389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9EB68-6021-4D8C-A3D8-5917E8B9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244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x = "hola"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0A1B5-328C-44D8-B7F2-78B423EB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01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decl.tipo debe ser compatible con expr.tipo</a:t>
            </a:r>
          </a:p>
        </p:txBody>
      </p:sp>
    </p:spTree>
    <p:extLst>
      <p:ext uri="{BB962C8B-B14F-4D97-AF65-F5344CB8AC3E}">
        <p14:creationId xmlns:p14="http://schemas.microsoft.com/office/powerpoint/2010/main" val="20864751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F2614-FACF-46C5-B91F-5B801B2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C9429-6A69-401E-934F-C8D5002A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1">
            <a:extLst xmlns:a="http://schemas.openxmlformats.org/drawingml/2006/main">
              <a:ext uri="{FF2B5EF4-FFF2-40B4-BE49-F238E27FC236}">
                <a16:creationId xmlns:a16="http://schemas.microsoft.com/office/drawing/2014/main" id="{99316442-621E-42A1-80F7-702F61D7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1">
            <a:extLst xmlns:a="http://schemas.openxmlformats.org/drawingml/2006/main">
              <a:ext uri="{FF2B5EF4-FFF2-40B4-BE49-F238E27FC236}">
                <a16:creationId xmlns:a16="http://schemas.microsoft.com/office/drawing/2014/main" id="{CE5416B7-B18E-4E8E-AEF2-7B44FD2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REGLAS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3CF35-6D78-4EA3-81DB-B961E83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11EBA-D966-4237-B5E9-B376548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2481F-B83C-4984-B65A-B3E3317D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73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SEM-5 a SEM-7: asignaciones, condiciones y ciclos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831EB-D2AA-46A3-95BD-3323CE06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95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4464E-3D0C-4D34-A7A8-1863BE0E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SEM-5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4702D-1165-414C-A240-26DD11C6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tipo en asignacion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B1DB4-94AD-4A8D-8245-697F3505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943E2-F899-4830-8142-36C88BB5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var entero n = 1</a:t>
            </a:r>
          </a:p>
          <a:p xmlns:a="http://schemas.openxmlformats.org/drawingml/2006/main">
            <a:pPr algn="l">
              <a:def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n = "hola"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C7E71-82B0-427D-AF22-E7EC88E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ID.tipo heredado desde tabla vs expr.tipo sintetizado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C3A87-94B8-4EA8-90FA-41881EE0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95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D02A7-1950-4C34-9FFE-CF16B6AC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SEM-6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591A3-3F79-4A77-971B-AC2C254E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86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condicion no booleana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939BA-1467-4A68-8FAE-A36B7950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1950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6C4B6-66BD-428E-B963-8C4E1A20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7190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si n entonces</a:t>
            </a:r>
          </a:p>
          <a:p xmlns:a="http://schemas.openxmlformats.org/drawingml/2006/main">
            <a:pPr algn="l">
              <a:def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  imprimir(n)</a:t>
            </a:r>
          </a:p>
          <a:p xmlns:a="http://schemas.openxmlformats.org/drawingml/2006/main">
            <a:pPr algn="l">
              <a:def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fin_si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CC49B-D179-45C3-828B-EE73BE5E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condicion.tipo debe pertenecer a {booleano}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FB0A8-2DD2-486B-8997-DEFB7ED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94E2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3549B-3457-4605-B979-96AB3850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4E2D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4E2D5"/>
                </a:solidFill>
                <a:latin typeface="Aptos"/>
                <a:ea typeface="Aptos"/>
                <a:cs typeface="Aptos"/>
              </a:rPr>
              <a:t>SEM-7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46ABA4-43A5-4F90-9D17-3E03F69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limites del para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06D19-A773-4BC0-87FE-7E1CDCA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3038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4B7BC-3839-48AD-A3BB-5B590A20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EF2FF"/>
                </a:solidFill>
                <a:latin typeface="Aptos Mono"/>
                <a:ea typeface="Aptos Mono"/>
                <a:cs typeface="Aptos Mono"/>
              </a:rPr>
              <a:t>para i desde "a" hasta 10 paso falso hacer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859D8-8DA7-4721-952B-E0AA8DBB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desde/hasta/paso deben ser numericos</a:t>
            </a:r>
          </a:p>
        </p:txBody>
      </p:sp>
    </p:spTree>
    <p:extLst>
      <p:ext uri="{BB962C8B-B14F-4D97-AF65-F5344CB8AC3E}">
        <p14:creationId xmlns:p14="http://schemas.microsoft.com/office/powerpoint/2010/main" val="10284997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B8298-D297-490B-A25E-55218EB3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65688-0BF5-4B8A-B579-20F23841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2">
            <a:extLst xmlns:a="http://schemas.openxmlformats.org/drawingml/2006/main">
              <a:ext uri="{FF2B5EF4-FFF2-40B4-BE49-F238E27FC236}">
                <a16:creationId xmlns:a16="http://schemas.microsoft.com/office/drawing/2014/main" id="{EE195E48-41AF-4CB7-BBE2-29DEB07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2">
            <a:extLst xmlns:a="http://schemas.openxmlformats.org/drawingml/2006/main">
              <a:ext uri="{FF2B5EF4-FFF2-40B4-BE49-F238E27FC236}">
                <a16:creationId xmlns:a16="http://schemas.microsoft.com/office/drawing/2014/main" id="{A971795B-422F-489C-B172-8037F912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IMPLEMENTACION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118D7-BBBC-4235-9D53-3D377E8C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7F5E9-386F-476E-B684-85FF397C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25FDA-307F-4722-95D8-B9D7F0D0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0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Implementacion backend: una fase independiente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8AC3D-24BC-4937-AE4E-6BE151D9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0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El parser produce el AST; el analizador semantico lo recorre y devuelve errores + tabla.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0C641-67F7-47E1-BF7E-BCDC0CB5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85E64-13B7-4645-8762-3A6F9EA3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F624D-6980-4575-9940-A4775224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BA6F7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CBA6F7"/>
                </a:solidFill>
                <a:latin typeface="Aptos Mono"/>
                <a:ea typeface="Aptos Mono"/>
                <a:cs typeface="Aptos Mono"/>
              </a:rPr>
              <a:t>`AnalizadorSemantico`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FAC6A-658B-4C2C-9132-CC1F019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visitor sobre nodos: declaracion, sent_id, si, mientras, para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C90D5-11DA-48A0-A04A-E17C6CCE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CEF99-9739-4C52-A7B0-C45A75A1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FD723-7AB8-452D-B35D-83EBD75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BA6F7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CBA6F7"/>
                </a:solidFill>
                <a:latin typeface="Aptos Mono"/>
                <a:ea typeface="Aptos Mono"/>
                <a:cs typeface="Aptos Mono"/>
              </a:rPr>
              <a:t>`TablaSimbolos`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9C643-207B-4D59-95BF-F61AAFCE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pila de ambitos, declaracion, busqueda e historial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0657B-5A82-4CCE-AD13-4CCD6BEB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6EEE6-3B69-42D7-B259-61080C63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4BDC8-1F1B-4289-BB5C-4A82E7B9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05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BA6F7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CBA6F7"/>
                </a:solidFill>
                <a:latin typeface="Aptos Mono"/>
                <a:ea typeface="Aptos Mono"/>
                <a:cs typeface="Aptos Mono"/>
              </a:rPr>
              <a:t>`SemanticDiagnostic`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BF614-2887-43CE-97F4-DFC9BE99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148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regla, lexema, fila, columna, mensaje y sugerencia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23B98-162A-40EC-A5E3-C2B9BBF3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4769F-A5AF-4F95-899D-9500CB5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E5218-7F7B-4836-BE3D-2BE0B2C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B4FA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89B4FA"/>
                </a:solidFill>
                <a:latin typeface="Aptos Mono"/>
                <a:ea typeface="Aptos Mono"/>
                <a:cs typeface="Aptos Mono"/>
              </a:rPr>
              <a:t>`/api/semantico`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A9F57-8EDB-4204-9FBD-FFBE968A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96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expone errores y tabla para el frontend</a:t>
            </a:r>
          </a:p>
        </p:txBody>
      </p:sp>
    </p:spTree>
    <p:extLst>
      <p:ext uri="{BB962C8B-B14F-4D97-AF65-F5344CB8AC3E}">
        <p14:creationId xmlns:p14="http://schemas.microsoft.com/office/powerpoint/2010/main" val="19842545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E3161E-B496-400E-B566-93034B44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DD644-5579-495C-96C4-7B118CC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3">
            <a:extLst xmlns:a="http://schemas.openxmlformats.org/drawingml/2006/main">
              <a:ext uri="{FF2B5EF4-FFF2-40B4-BE49-F238E27FC236}">
                <a16:creationId xmlns:a16="http://schemas.microsoft.com/office/drawing/2014/main" id="{99A8869C-C349-46BA-BAA0-6FD6CAF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3">
            <a:extLst xmlns:a="http://schemas.openxmlformats.org/drawingml/2006/main">
              <a:ext uri="{FF2B5EF4-FFF2-40B4-BE49-F238E27FC236}">
                <a16:creationId xmlns:a16="http://schemas.microsoft.com/office/drawing/2014/main" id="{4A075912-292B-4957-BE06-9582771A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ARQUITECTURA VIVA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AB580-5B11-4772-AF76-00A43850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F262-FC32-452C-A418-A7204ADF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C270C-F365-45FE-B084-8B606993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Arquitectura de ejecucion en Claudio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9046C-37C6-4D2A-9BD1-F14B3A0F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Determinismo primero: OpenAI entra despues de que el compilador ya detecto los errores.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ED919-F05E-4C6A-803C-9360E6CE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933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5D145-AB35-4E6C-9C19-446F517B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82E39-BA78-498B-8561-3377C0C4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Lexer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29E3E-0359-48C5-A7D8-477CF4C0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DB233-3FC3-4696-8B60-094FA317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2430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0C94D-7752-4A06-9708-2A6A5490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671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Parser 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D6000-6C3C-4B9D-B92C-F1E769F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815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FEB88-4A3C-420F-B55E-4A06389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8E0C4-C1F0-4FE3-AC12-C5104BDD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908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Semantico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83F93-7C9B-47D9-8F76-0CCB0EBE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SEM-1..SEM-7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EEC48-2470-40AE-ABF6-638173A1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2A46F-00AD-4471-81FB-2CC1EF86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671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Tabla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FF2EB-61F2-4203-8A2E-EACCB047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simbolos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E5C5C-6633-4246-85FC-29DA33C1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F9E2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CA754-DC9C-42A0-8B92-C6DF177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908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EDBE0-1ED7-4921-B4A9-2F5AF153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explicacion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6F679-F705-4633-93DD-92CAC92B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19050">
            <a:solidFill>
              <a:srgbClr val="94E2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6CD471-FD80-40E1-BAA5-FC072EEF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671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E9BBD-20E0-48D5-BF6E-48AC4832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815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errores + tabla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05609-4F3A-4C7D-A3F6-5DF98A9A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33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45269-E2A1-43F3-ABDE-7F57180E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006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POST /api/semantico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637A29-E3D8-4723-B430-71077F9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D2E"/>
          </a:solidFill>
          <a:ln xmlns:a="http://schemas.openxmlformats.org/drawingml/2006/main" w="9525">
            <a:solidFill>
              <a:srgbClr val="2B34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FB5F9-5AFC-48A0-9CBB-75DB9F60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00675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POST /api/sugerencias-ia-semantico</a:t>
            </a:r>
          </a:p>
        </p:txBody>
      </p:sp>
    </p:spTree>
    <p:extLst>
      <p:ext uri="{BB962C8B-B14F-4D97-AF65-F5344CB8AC3E}">
        <p14:creationId xmlns:p14="http://schemas.microsoft.com/office/powerpoint/2010/main" val="6380533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F6E452-E30D-4FC3-96AB-1FE3BF0B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F49E2-DA03-4BC4-8B1C-2D709450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4">
            <a:extLst xmlns:a="http://schemas.openxmlformats.org/drawingml/2006/main">
              <a:ext uri="{FF2B5EF4-FFF2-40B4-BE49-F238E27FC236}">
                <a16:creationId xmlns:a16="http://schemas.microsoft.com/office/drawing/2014/main" id="{165D0212-B54C-4969-9D0A-D07986FA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4">
            <a:extLst xmlns:a="http://schemas.openxmlformats.org/drawingml/2006/main">
              <a:ext uri="{FF2B5EF4-FFF2-40B4-BE49-F238E27FC236}">
                <a16:creationId xmlns:a16="http://schemas.microsoft.com/office/drawing/2014/main" id="{44AEB2E0-07D5-41B1-AC61-15AE8BFE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IMPLEMENTACION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931FE-B288-45BC-B0AC-1BFA632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67A59-E5CA-40B8-AB23-E1CB793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0D458-9E78-48E4-916F-CF966FD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UI semantica: tabla, errores y OpenAI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DF36D-0A4C-4D32-A4F8-0BF9D13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4770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9525">
            <a:solidFill>
              <a:srgbClr val="89B4F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48e4c76a34130"/>
          <a:stretch xmlns:a="http://schemas.openxmlformats.org/drawingml/2006/main"/>
        </p:blipFill>
        <p:spPr>
          <a:xfrm xmlns:a="http://schemas.openxmlformats.org/drawingml/2006/main">
            <a:off x="742950" y="1951434"/>
            <a:ext cx="6286500" cy="353615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3D9EB-A66E-4E2F-BF65-029232D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C6F96-18EE-4486-8CF8-13C79C5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Modo semantico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8B81C-F96E-411B-944B-447A7E2F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5267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El toolbar llama `/api/semantico` y habilita tabs de errores y tabla.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65F16-7A9B-416A-84FD-3713B4ED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A6E3A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C26C5-8ABE-43FD-80D0-A88FEB2A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E3A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6E3A1"/>
                </a:solidFill>
                <a:latin typeface="Aptos"/>
                <a:ea typeface="Aptos"/>
                <a:cs typeface="Aptos"/>
              </a:rPr>
              <a:t>Tabla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B8ECC-1ECC-4372-A8D0-6575BB4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Se renderiza `nombre`, `tipo`, `inmutable`, `ambito`, `fila` y `columna`.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9417F-F848-4A0C-B7D7-3ACAD4BA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9E2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8EBA8-314D-4E75-9F71-A3D6C29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67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FA2BF-3E8F-4993-8DEC-9C5C060D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14900"/>
            <a:ext cx="2305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Solo explica diagnosticos reales; si no hay key, conserva fallback deterministico.</a:t>
            </a:r>
          </a:p>
        </p:txBody>
      </p:sp>
    </p:spTree>
    <p:extLst>
      <p:ext uri="{BB962C8B-B14F-4D97-AF65-F5344CB8AC3E}">
        <p14:creationId xmlns:p14="http://schemas.microsoft.com/office/powerpoint/2010/main" val="1789175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34D61-D6EA-4C87-A7B2-78122C66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9D32A-A888-459B-B2F7-D102C847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5">
            <a:extLst xmlns:a="http://schemas.openxmlformats.org/drawingml/2006/main">
              <a:ext uri="{FF2B5EF4-FFF2-40B4-BE49-F238E27FC236}">
                <a16:creationId xmlns:a16="http://schemas.microsoft.com/office/drawing/2014/main" id="{25C6A6DD-B3B8-4554-8AE0-54389A9E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5">
            <a:extLst xmlns:a="http://schemas.openxmlformats.org/drawingml/2006/main">
              <a:ext uri="{FF2B5EF4-FFF2-40B4-BE49-F238E27FC236}">
                <a16:creationId xmlns:a16="http://schemas.microsoft.com/office/drawing/2014/main" id="{787B1F6D-3143-4C9E-84E1-27F944CF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VALIDACION Y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0F9F4-F14B-4509-9F15-B8465BA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5044F-B353-48D3-864F-61F9AA58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186B0-3C2E-4C58-B73C-6700758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Pruebas y demo: validacion observable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AB467-143A-451A-AE7C-0E41DF57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La validacion combina pruebas automatizadas, endpoint real, capturas de UI y despliegue.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A2A3F-326F-49BF-9C9B-9605B929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3A1"/>
          </a:solidFill>
          <a:ln xmlns:a="http://schemas.openxmlformats.org/drawingml/2006/main" w="0">
            <a:solidFill>
              <a:srgbClr val="A6E3A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DE61F-4ECC-4D10-92CD-741B75A5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C1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C1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4D211-D5BB-4CAE-B2B9-DCE8596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76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Todas las reglas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9F24A-A9DD-4B30-AF33-14DD2FAC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un caso compuesto dispara SEM-1..SEM-7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83C9F-C092-4F03-A0C2-FD378A9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3A1"/>
          </a:solidFill>
          <a:ln xmlns:a="http://schemas.openxmlformats.org/drawingml/2006/main" w="0">
            <a:solidFill>
              <a:srgbClr val="A6E3A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84671-214B-4B49-AB9E-6E4BDF0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C1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C1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11583-57E9-4C19-980C-E831D5B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051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Caso valido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F8517-DACC-4EFE-81C7-71A6254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funciones, parametros, tipos y condiciones correctas no reportan errores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6D372-A34F-41D4-869C-248591B0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3A1"/>
          </a:solidFill>
          <a:ln xmlns:a="http://schemas.openxmlformats.org/drawingml/2006/main" w="0">
            <a:solidFill>
              <a:srgbClr val="A6E3A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5D624-519C-4133-991D-6123001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C1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C1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832D8-CA3B-49EC-A80B-3013CCF5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F63FA-7595-4581-97B4-7891ACD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`POST /api/semantico` devuelve tabla y diagnosticos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CD466-3DD4-43EC-B3B6-6253C20B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AF"/>
          </a:solidFill>
          <a:ln xmlns:a="http://schemas.openxmlformats.org/drawingml/2006/main" w="0">
            <a:solidFill>
              <a:srgbClr val="F9E2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EF03A-9D53-49F1-836C-2F4A7DEC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C1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C1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DC98D-5870-4F8F-BE12-EB377D3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62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81F4E-5528-41C8-8F7E-56F194B8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fallback `no_disponible` cuando no existe `OPENAI_API_KEY`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59156-F8D7-492D-B010-B213A347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3A1"/>
          </a:solidFill>
          <a:ln xmlns:a="http://schemas.openxmlformats.org/drawingml/2006/main" w="0">
            <a:solidFill>
              <a:srgbClr val="A6E3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42C13-9656-4A22-8103-03B7734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C1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C1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AF664-19AF-4FA8-B92B-3E31E2DF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911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2FF"/>
                </a:solidFill>
                <a:latin typeface="Aptos"/>
                <a:ea typeface="Aptos"/>
                <a:cs typeface="Aptos"/>
              </a:rPr>
              <a:t>Produccion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01DDF-59E2-422A-A056-5623C3DA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006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`https://claudio.dautia.com/` responde y ejecuta el modo semantico</a:t>
            </a:r>
          </a:p>
        </p:txBody>
      </p:sp>
    </p:spTree>
    <p:extLst>
      <p:ext uri="{BB962C8B-B14F-4D97-AF65-F5344CB8AC3E}">
        <p14:creationId xmlns:p14="http://schemas.microsoft.com/office/powerpoint/2010/main" val="12081289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DB2FF4-C074-4DA8-B91B-2E0AB227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163E9-86B3-48E6-A14B-E9907F1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ule-16">
            <a:extLst xmlns:a="http://schemas.openxmlformats.org/drawingml/2006/main">
              <a:ext uri="{FF2B5EF4-FFF2-40B4-BE49-F238E27FC236}">
                <a16:creationId xmlns:a16="http://schemas.microsoft.com/office/drawing/2014/main" id="{BCC032BF-5F71-4180-87EB-44E4BDF4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6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6">
            <a:extLst xmlns:a="http://schemas.openxmlformats.org/drawingml/2006/main">
              <a:ext uri="{FF2B5EF4-FFF2-40B4-BE49-F238E27FC236}">
                <a16:creationId xmlns:a16="http://schemas.microsoft.com/office/drawing/2014/main" id="{FB508A42-2789-4488-B9EF-E1099B6C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CIERRE CONCEPTUAL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913B5-1F92-429D-B265-0B51AE13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Claudio Quiz 4 · Semantica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1684C-BB69-4AD4-8D1C-8C1E6E92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58C5B-960B-48D8-8DA0-5A28A7C8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EF2FF"/>
                </a:solidFill>
                <a:latin typeface="Aptos Display"/>
                <a:ea typeface="Aptos Display"/>
                <a:cs typeface="Aptos Display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5FAB3-2D91-4198-805F-ADE9BA2C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7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A6E3A1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A6E3A1"/>
                </a:solidFill>
                <a:latin typeface="Aptos Display"/>
                <a:ea typeface="Aptos Display"/>
                <a:cs typeface="Aptos Display"/>
              </a:rPr>
              <a:t>analisis semantico integrado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F23EB-4DB9-443D-AEAA-7A9DFC5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E8477-B215-40DE-8458-8A963F41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9B4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9B4FA"/>
                </a:solidFill>
                <a:latin typeface="Aptos"/>
                <a:ea typeface="Aptos"/>
                <a:cs typeface="Aptos"/>
              </a:rPr>
              <a:t>Concepto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66FF6-434F-47EE-B725-B01D1EDA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semantica valida significado sobre un AST ya construido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04D1A-40AC-4EFD-95AA-FF4848B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CBA6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921F4-DA9F-4F73-845B-49F12EFF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A6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BA6F7"/>
                </a:solidFill>
                <a:latin typeface="Aptos"/>
                <a:ea typeface="Aptos"/>
                <a:cs typeface="Aptos"/>
              </a:rPr>
              <a:t>Mecanismo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F0216-5C97-4528-98DD-3BC1FEE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atributos + tabla de simbolos + dominios por regla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06260-EAAD-4218-8379-6CA8C1DF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9E2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F2E8C-A952-4355-AB09-596D05AD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E2A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E2AF"/>
                </a:solidFill>
                <a:latin typeface="Aptos"/>
                <a:ea typeface="Aptos"/>
                <a:cs typeface="Aptos"/>
              </a:rPr>
              <a:t>Implementacion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FF16C-E88B-4D2F-83FA-F8035796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2FF"/>
                </a:solidFill>
                <a:latin typeface="Aptos"/>
                <a:ea typeface="Aptos"/>
                <a:cs typeface="Aptos"/>
              </a:rPr>
              <a:t>backend independiente, UI visible y OpenAI explicativo</a:t>
            </a:r>
          </a:p>
        </p:txBody>
      </p:sp>
    </p:spTree>
    <p:extLst>
      <p:ext uri="{BB962C8B-B14F-4D97-AF65-F5344CB8AC3E}">
        <p14:creationId xmlns:p14="http://schemas.microsoft.com/office/powerpoint/2010/main" val="1513188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2026-05-28T23:44:16.2610000Z</dcterms:created>
  <dcterms:modified xsi:type="dcterms:W3CDTF">2026-05-28T23:44:16.2610000Z</dcterms:modified>
</coreProperties>
</file>